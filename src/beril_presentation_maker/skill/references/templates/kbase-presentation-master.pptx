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2" r:id="rId1"/>
  </p:sldMasterIdLst>
  <p:notesMasterIdLst>
    <p:notesMasterId r:id="rId35"/>
  </p:notesMasterIdLst>
  <p:sldIdLst/>
  <p:sldSz cx="9144000" cy="5143500" type="screen16x9"/>
  <p:notesSz cx="6858000" cy="9144000"/>
  <p:embeddedFontLst>
    <p:embeddedFont>
      <p:font typeface="Oxygen" panose="02000503000000000000" pitchFamily="2" charset="77"/>
      <p:regular r:id="rId36"/>
      <p:bold r:id="rId37"/>
    </p:embeddedFont>
    <p:embeddedFont>
      <p:font typeface="Oxygen Light" panose="02000303000000000000" pitchFamily="2" charset="0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35" d="100"/>
          <a:sy n="135" d="100"/>
        </p:scale>
        <p:origin x="176" y="4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5" Type="http://schemas.openxmlformats.org/officeDocument/2006/relationships/notesMaster" Target="notesMasters/notesMaster1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earth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/>
        </p:nvSpPr>
        <p:spPr>
          <a:xfrm>
            <a:off x="3124200" y="4812506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986575" y="4545375"/>
            <a:ext cx="7157400" cy="60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3"/>
          <p:cNvGrpSpPr/>
          <p:nvPr/>
        </p:nvGrpSpPr>
        <p:grpSpPr>
          <a:xfrm>
            <a:off x="0" y="0"/>
            <a:ext cx="1971264" cy="5158319"/>
            <a:chOff x="87085" y="92745"/>
            <a:chExt cx="1828800" cy="6678300"/>
          </a:xfrm>
        </p:grpSpPr>
        <p:sp>
          <p:nvSpPr>
            <p:cNvPr id="25" name="Google Shape;25;p3"/>
            <p:cNvSpPr/>
            <p:nvPr/>
          </p:nvSpPr>
          <p:spPr>
            <a:xfrm>
              <a:off x="87085" y="92745"/>
              <a:ext cx="1828800" cy="6678300"/>
            </a:xfrm>
            <a:prstGeom prst="rect">
              <a:avLst/>
            </a:prstGeom>
            <a:solidFill>
              <a:srgbClr val="8ED6D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" name="Google Shape;26;p3"/>
            <p:cNvCxnSpPr/>
            <p:nvPr/>
          </p:nvCxnSpPr>
          <p:spPr>
            <a:xfrm>
              <a:off x="163285" y="4421001"/>
              <a:ext cx="1676400" cy="0"/>
            </a:xfrm>
            <a:prstGeom prst="straightConnector1">
              <a:avLst/>
            </a:prstGeom>
            <a:noFill/>
            <a:ln w="25400" cap="flat" cmpd="sng">
              <a:solidFill>
                <a:srgbClr val="C6EAED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3"/>
            <p:cNvCxnSpPr/>
            <p:nvPr/>
          </p:nvCxnSpPr>
          <p:spPr>
            <a:xfrm>
              <a:off x="152400" y="5856514"/>
              <a:ext cx="1676400" cy="0"/>
            </a:xfrm>
            <a:prstGeom prst="straightConnector1">
              <a:avLst/>
            </a:prstGeom>
            <a:noFill/>
            <a:ln w="25400" cap="flat" cmpd="sng">
              <a:solidFill>
                <a:srgbClr val="C6EAE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8" name="Google Shape;28;p3"/>
          <p:cNvSpPr txBox="1"/>
          <p:nvPr/>
        </p:nvSpPr>
        <p:spPr>
          <a:xfrm>
            <a:off x="3673725" y="4842650"/>
            <a:ext cx="36942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rPr>
              <a:t>Biological and Environmental Research Program</a:t>
            </a:r>
            <a:endParaRPr sz="1250" i="0" u="none" strike="noStrike" cap="none">
              <a:solidFill>
                <a:srgbClr val="000000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pic>
        <p:nvPicPr>
          <p:cNvPr id="29" name="Google Shape;29;p3" descr="/Users/teid03/Desktop/WIP_Kelly/2 0 1 3/25887 KBase Templates/images/KBase_TitlePage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86839" y="86349"/>
            <a:ext cx="6267973" cy="2109374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2386850" y="2195725"/>
            <a:ext cx="62679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0419A"/>
              </a:buClr>
              <a:buSzPts val="2500"/>
              <a:buNone/>
              <a:defRPr sz="2500" b="0">
                <a:solidFill>
                  <a:srgbClr val="20419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>
            <a:off x="2386850" y="3110125"/>
            <a:ext cx="6267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xygen Light"/>
              <a:buNone/>
              <a:defRPr sz="2000">
                <a:latin typeface="Oxygen Light"/>
                <a:ea typeface="Oxygen Light"/>
                <a:cs typeface="Oxygen Light"/>
                <a:sym typeface="Oxygen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3"/>
          <p:cNvSpPr txBox="1"/>
          <p:nvPr/>
        </p:nvSpPr>
        <p:spPr>
          <a:xfrm>
            <a:off x="18025" y="3429375"/>
            <a:ext cx="1953300" cy="10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rPr>
              <a:t>COMMUNITY-DRIVEN </a:t>
            </a:r>
            <a:r>
              <a:rPr lang="en" i="1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rPr>
              <a:t>PREDICTIVE BIOLOGY</a:t>
            </a:r>
            <a:endParaRPr i="1" u="none" strike="noStrike" cap="none">
              <a:solidFill>
                <a:schemeClr val="dk1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pic>
        <p:nvPicPr>
          <p:cNvPr id="33" name="Google Shape;3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4913" y="4230938"/>
            <a:ext cx="3291837" cy="581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green header">
  <p:cSld name="big_numb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9" cy="514662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/>
          <p:nvPr/>
        </p:nvSpPr>
        <p:spPr>
          <a:xfrm rot="10800000" flipH="1">
            <a:off x="0" y="0"/>
            <a:ext cx="7315200" cy="731400"/>
          </a:xfrm>
          <a:prstGeom prst="round1Rect">
            <a:avLst>
              <a:gd name="adj" fmla="val 50000"/>
            </a:avLst>
          </a:prstGeom>
          <a:solidFill>
            <a:srgbClr val="E6EBAC"/>
          </a:solidFill>
          <a:ln w="9525" cap="flat" cmpd="sng">
            <a:solidFill>
              <a:srgbClr val="E6E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title"/>
          </p:nvPr>
        </p:nvSpPr>
        <p:spPr>
          <a:xfrm>
            <a:off x="660902" y="923453"/>
            <a:ext cx="7840301" cy="32864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6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2298" y="4572712"/>
            <a:ext cx="1448652" cy="4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063" y="4613638"/>
            <a:ext cx="1352663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">
  <p:cSld name="section_divi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9" cy="514662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434150" y="1145850"/>
            <a:ext cx="782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-83050" y="1934828"/>
            <a:ext cx="9144000" cy="12738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99" name="Google Shape;9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2298" y="4572712"/>
            <a:ext cx="1448652" cy="4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063" y="4613638"/>
            <a:ext cx="1352663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acknowledgments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9" cy="514662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>
            <a:spLocks noGrp="1"/>
          </p:cNvSpPr>
          <p:nvPr>
            <p:ph type="body" idx="1"/>
          </p:nvPr>
        </p:nvSpPr>
        <p:spPr>
          <a:xfrm>
            <a:off x="311700" y="1185250"/>
            <a:ext cx="8520600" cy="33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title"/>
          </p:nvPr>
        </p:nvSpPr>
        <p:spPr>
          <a:xfrm>
            <a:off x="91440" y="125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10" name="Google Shape;11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2298" y="4572712"/>
            <a:ext cx="1448652" cy="4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063" y="4613638"/>
            <a:ext cx="1352663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big_idea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 rot="10800000">
            <a:off x="-3000" y="0"/>
            <a:ext cx="9150000" cy="832919"/>
          </a:xfrm>
          <a:prstGeom prst="round1Rect">
            <a:avLst>
              <a:gd name="adj" fmla="val 49499"/>
            </a:avLst>
          </a:prstGeom>
          <a:solidFill>
            <a:srgbClr val="C6EAED"/>
          </a:solidFill>
          <a:ln w="9525" cap="flat" cmpd="sng">
            <a:solidFill>
              <a:srgbClr val="C6E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137160" y="146304"/>
            <a:ext cx="8522208" cy="57607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15" name="Google Shape;11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12298" y="4572712"/>
            <a:ext cx="1448652" cy="4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7063" y="4613638"/>
            <a:ext cx="1352663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and body with point">
  <p:cSld name="two_column_compare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12298" y="4572712"/>
            <a:ext cx="1448652" cy="4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7063" y="4613638"/>
            <a:ext cx="1352663" cy="45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 rot="10800000">
            <a:off x="-3000" y="0"/>
            <a:ext cx="9150000" cy="832919"/>
          </a:xfrm>
          <a:prstGeom prst="round1Rect">
            <a:avLst>
              <a:gd name="adj" fmla="val 49499"/>
            </a:avLst>
          </a:prstGeom>
          <a:solidFill>
            <a:srgbClr val="C6EAED"/>
          </a:solidFill>
          <a:ln w="9525" cap="flat" cmpd="sng">
            <a:solidFill>
              <a:srgbClr val="C6E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311700" y="148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body" idx="1"/>
          </p:nvPr>
        </p:nvSpPr>
        <p:spPr>
          <a:xfrm>
            <a:off x="112523" y="981671"/>
            <a:ext cx="4386578" cy="34795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body" idx="2"/>
          </p:nvPr>
        </p:nvSpPr>
        <p:spPr>
          <a:xfrm>
            <a:off x="4572000" y="981670"/>
            <a:ext cx="4488950" cy="34795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i="1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i="1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i="1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i="1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i="1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i="1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i="1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i="1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i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microbe header">
  <p:cSld name="implications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74" y="0"/>
            <a:ext cx="913845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5833" y="464542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body" idx="1"/>
          </p:nvPr>
        </p:nvSpPr>
        <p:spPr>
          <a:xfrm>
            <a:off x="311700" y="1185250"/>
            <a:ext cx="8520600" cy="33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91440" y="125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5" name="Google Shape;13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2298" y="4572712"/>
            <a:ext cx="1448652" cy="4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063" y="4613638"/>
            <a:ext cx="1352663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microbe">
  <p:cSld name="data_figure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>
            <a:spLocks noGrp="1"/>
          </p:cNvSpPr>
          <p:nvPr>
            <p:ph type="body" idx="1"/>
          </p:nvPr>
        </p:nvSpPr>
        <p:spPr>
          <a:xfrm>
            <a:off x="311700" y="1185250"/>
            <a:ext cx="8520600" cy="33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91440" y="125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2298" y="4572712"/>
            <a:ext cx="1448652" cy="4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063" y="4613638"/>
            <a:ext cx="1352663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microbe">
  <p:cSld name="concept_illustration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>
            <a:spLocks noGrp="1"/>
          </p:cNvSpPr>
          <p:nvPr>
            <p:ph type="body" idx="1"/>
          </p:nvPr>
        </p:nvSpPr>
        <p:spPr>
          <a:xfrm>
            <a:off x="311700" y="1185250"/>
            <a:ext cx="4405155" cy="33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title"/>
          </p:nvPr>
        </p:nvSpPr>
        <p:spPr>
          <a:xfrm>
            <a:off x="91440" y="125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47" name="Google Shape;1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2298" y="4572712"/>
            <a:ext cx="1448652" cy="4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063" y="4613638"/>
            <a:ext cx="1352663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microbe">
  <p:cSld name="references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>
            <a:spLocks noGrp="1"/>
          </p:cNvSpPr>
          <p:nvPr>
            <p:ph type="sldNum" idx="12"/>
          </p:nvPr>
        </p:nvSpPr>
        <p:spPr>
          <a:xfrm>
            <a:off x="85833" y="464542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body" idx="1"/>
          </p:nvPr>
        </p:nvSpPr>
        <p:spPr>
          <a:xfrm>
            <a:off x="311700" y="1185250"/>
            <a:ext cx="8520600" cy="33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title"/>
          </p:nvPr>
        </p:nvSpPr>
        <p:spPr>
          <a:xfrm>
            <a:off x="91440" y="125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2298" y="4572712"/>
            <a:ext cx="1448652" cy="4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063" y="4613638"/>
            <a:ext cx="1352663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plant">
  <p:cSld name="workflow_diagram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4"/>
          <p:cNvSpPr txBox="1">
            <a:spLocks noGrp="1"/>
          </p:cNvSpPr>
          <p:nvPr>
            <p:ph type="body" idx="1"/>
          </p:nvPr>
        </p:nvSpPr>
        <p:spPr>
          <a:xfrm>
            <a:off x="311700" y="1185250"/>
            <a:ext cx="8520600" cy="33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title"/>
          </p:nvPr>
        </p:nvSpPr>
        <p:spPr>
          <a:xfrm>
            <a:off x="91440" y="125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67" name="Google Shape;16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2298" y="4572712"/>
            <a:ext cx="1448652" cy="4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063" y="4613638"/>
            <a:ext cx="1352663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plant">
  <p:cSld name="qa_anticipated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6"/>
          <p:cNvSpPr txBox="1">
            <a:spLocks noGrp="1"/>
          </p:cNvSpPr>
          <p:nvPr>
            <p:ph type="body" idx="1"/>
          </p:nvPr>
        </p:nvSpPr>
        <p:spPr>
          <a:xfrm>
            <a:off x="311700" y="1071975"/>
            <a:ext cx="8520600" cy="3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8" name="Google Shape;178;p26"/>
          <p:cNvSpPr txBox="1">
            <a:spLocks noGrp="1"/>
          </p:cNvSpPr>
          <p:nvPr>
            <p:ph type="title"/>
          </p:nvPr>
        </p:nvSpPr>
        <p:spPr>
          <a:xfrm>
            <a:off x="91440" y="125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79" name="Google Shape;17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2298" y="4572712"/>
            <a:ext cx="1448652" cy="4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063" y="4613638"/>
            <a:ext cx="1352663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earth header">
  <p:cSld name="claim_evidence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74" y="0"/>
            <a:ext cx="913845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7"/>
          <p:cNvSpPr txBox="1">
            <a:spLocks noGrp="1"/>
          </p:cNvSpPr>
          <p:nvPr>
            <p:ph type="body" idx="1"/>
          </p:nvPr>
        </p:nvSpPr>
        <p:spPr>
          <a:xfrm>
            <a:off x="311700" y="1185250"/>
            <a:ext cx="8520600" cy="33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4" name="Google Shape;184;p27"/>
          <p:cNvSpPr txBox="1">
            <a:spLocks noGrp="1"/>
          </p:cNvSpPr>
          <p:nvPr>
            <p:ph type="title"/>
          </p:nvPr>
        </p:nvSpPr>
        <p:spPr>
          <a:xfrm>
            <a:off x="91440" y="125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85" name="Google Shape;18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2298" y="4572712"/>
            <a:ext cx="1448652" cy="4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063" y="4613638"/>
            <a:ext cx="1352663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earth">
  <p:cSld name="methods_summary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8"/>
          <p:cNvSpPr txBox="1">
            <a:spLocks noGrp="1"/>
          </p:cNvSpPr>
          <p:nvPr>
            <p:ph type="body" idx="1"/>
          </p:nvPr>
        </p:nvSpPr>
        <p:spPr>
          <a:xfrm>
            <a:off x="311700" y="1185250"/>
            <a:ext cx="8520600" cy="33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0" name="Google Shape;190;p28"/>
          <p:cNvSpPr txBox="1">
            <a:spLocks noGrp="1"/>
          </p:cNvSpPr>
          <p:nvPr>
            <p:ph type="title"/>
          </p:nvPr>
        </p:nvSpPr>
        <p:spPr>
          <a:xfrm>
            <a:off x="91440" y="125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91" name="Google Shape;19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2298" y="4572712"/>
            <a:ext cx="1448652" cy="4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063" y="4613638"/>
            <a:ext cx="1352663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earth">
  <p:cSld name="cross_tenant_integration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0"/>
          <p:cNvSpPr txBox="1">
            <a:spLocks noGrp="1"/>
          </p:cNvSpPr>
          <p:nvPr>
            <p:ph type="body" idx="1"/>
          </p:nvPr>
        </p:nvSpPr>
        <p:spPr>
          <a:xfrm>
            <a:off x="311700" y="1185250"/>
            <a:ext cx="8520600" cy="33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30"/>
          <p:cNvSpPr txBox="1">
            <a:spLocks noGrp="1"/>
          </p:cNvSpPr>
          <p:nvPr>
            <p:ph type="title"/>
          </p:nvPr>
        </p:nvSpPr>
        <p:spPr>
          <a:xfrm>
            <a:off x="91440" y="125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203" name="Google Shape;20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2298" y="4572712"/>
            <a:ext cx="1448652" cy="4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063" y="4613638"/>
            <a:ext cx="1352663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3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148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xygen"/>
              <a:buNone/>
              <a:defRPr sz="2800">
                <a:solidFill>
                  <a:schemeClr val="accent2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xygen"/>
              <a:buNone/>
              <a:defRPr sz="2800">
                <a:solidFill>
                  <a:schemeClr val="accent2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xygen"/>
              <a:buNone/>
              <a:defRPr sz="2800">
                <a:solidFill>
                  <a:schemeClr val="accent2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xygen"/>
              <a:buNone/>
              <a:defRPr sz="2800">
                <a:solidFill>
                  <a:schemeClr val="accent2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xygen"/>
              <a:buNone/>
              <a:defRPr sz="2800">
                <a:solidFill>
                  <a:schemeClr val="accent2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xygen"/>
              <a:buNone/>
              <a:defRPr sz="2800">
                <a:solidFill>
                  <a:schemeClr val="accent2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xygen"/>
              <a:buNone/>
              <a:defRPr sz="2800">
                <a:solidFill>
                  <a:schemeClr val="accent2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xygen"/>
              <a:buNone/>
              <a:defRPr sz="2800">
                <a:solidFill>
                  <a:schemeClr val="accent2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xygen"/>
              <a:buNone/>
              <a:defRPr sz="2800">
                <a:solidFill>
                  <a:schemeClr val="accent2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071975"/>
            <a:ext cx="8520600" cy="3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Oxygen"/>
              <a:buChar char="●"/>
              <a:defRPr sz="1800">
                <a:solidFill>
                  <a:schemeClr val="accent2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xygen"/>
              <a:buChar char="○"/>
              <a:defRPr>
                <a:solidFill>
                  <a:schemeClr val="accent2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xygen"/>
              <a:buChar char="■"/>
              <a:defRPr>
                <a:solidFill>
                  <a:schemeClr val="accent2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xygen"/>
              <a:buChar char="●"/>
              <a:defRPr>
                <a:solidFill>
                  <a:schemeClr val="accent2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xygen"/>
              <a:buChar char="○"/>
              <a:defRPr>
                <a:solidFill>
                  <a:schemeClr val="accent2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xygen"/>
              <a:buChar char="■"/>
              <a:defRPr>
                <a:solidFill>
                  <a:schemeClr val="accent2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xygen"/>
              <a:buChar char="●"/>
              <a:defRPr>
                <a:solidFill>
                  <a:schemeClr val="accent2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xygen"/>
              <a:buChar char="○"/>
              <a:defRPr>
                <a:solidFill>
                  <a:schemeClr val="accent2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xygen"/>
              <a:buChar char="■"/>
              <a:defRPr>
                <a:solidFill>
                  <a:schemeClr val="accent2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4" r:id="rId7"/>
    <p:sldLayoutId id="2147483659" r:id="rId12"/>
    <p:sldLayoutId id="2147483661" r:id="rId14"/>
    <p:sldLayoutId id="2147483662" r:id="rId15"/>
    <p:sldLayoutId id="2147483663" r:id="rId16"/>
    <p:sldLayoutId id="2147483665" r:id="rId18"/>
    <p:sldLayoutId id="2147483666" r:id="rId19"/>
    <p:sldLayoutId id="2147483667" r:id="rId20"/>
    <p:sldLayoutId id="2147483668" r:id="rId21"/>
    <p:sldLayoutId id="2147483670" r:id="rId23"/>
    <p:sldLayoutId id="2147483672" r:id="rId25"/>
    <p:sldLayoutId id="2147483673" r:id="rId26"/>
    <p:sldLayoutId id="2147483674" r:id="rId27"/>
    <p:sldLayoutId id="2147483676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KBas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Base 2026 and beyond.pptx" id="{41B1C6C6-D904-E84F-8D29-A406A43AD322}" vid="{32A18CDD-CD3D-8D48-A3FA-690973D16EC9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5515</Words>
  <Application>Microsoft Macintosh PowerPoint</Application>
  <PresentationFormat>On-screen Show (16:9)</PresentationFormat>
  <Paragraphs>458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Oxygen</vt:lpstr>
      <vt:lpstr>Oxygen Light</vt:lpstr>
      <vt:lpstr>Courier New</vt:lpstr>
      <vt:lpstr>Arial</vt:lpstr>
      <vt:lpstr>Calibri</vt:lpstr>
      <vt:lpstr>KBase Light</vt:lpstr>
      <vt:lpstr>KBase Light</vt:lpstr>
      <vt:lpstr>KBase 2026 and beyond</vt:lpstr>
      <vt:lpstr>Why KBase Must Transform</vt:lpstr>
      <vt:lpstr>The Transformation: Platform to Knowledge Amplification Engine</vt:lpstr>
      <vt:lpstr>Where We Stand: Technology, Science, Community</vt:lpstr>
      <vt:lpstr>The Superintelligence Platform: K-BERDL + Autonomous Analysis/Agents + Co-Scientist + Code</vt:lpstr>
      <vt:lpstr>Example - The Virtuous Cycle: Self-Improving Annotation</vt:lpstr>
      <vt:lpstr>Focusing Use-Case</vt:lpstr>
      <vt:lpstr>User annotating new genome and validating</vt:lpstr>
      <vt:lpstr>K-BERDL: Scalable, Federatable, Data-linked AI Platform</vt:lpstr>
      <vt:lpstr>Four Pillars of KBase next-gen architecture (Gazi)</vt:lpstr>
      <vt:lpstr>KBase BER Domain Intelligence → Architecture (Gazi) </vt:lpstr>
      <vt:lpstr>KBase BER Domain Intelligence → Architecture (Gazi) </vt:lpstr>
      <vt:lpstr>Autonomous self-improvement- e.g. scalable autoannotation</vt:lpstr>
      <vt:lpstr>The Co-Scientist Core</vt:lpstr>
      <vt:lpstr>Concept of Operations</vt:lpstr>
      <vt:lpstr>What is Changed if we Succeed?</vt:lpstr>
      <vt:lpstr>Accelerating and Amplifying the Scientific Discovery Cycle</vt:lpstr>
      <vt:lpstr>Accelerating and Amplifying the Scientific Discovery Cycle</vt:lpstr>
      <vt:lpstr>Accelerating and Amplifying the Scientific Discovery Cycle</vt:lpstr>
      <vt:lpstr>Accelerating and Amplifying the Scientific Discovery Cycle</vt:lpstr>
      <vt:lpstr>Inner Loop - Living Annotation at the Heart of KBase</vt:lpstr>
      <vt:lpstr>Inner Loop - What is Changed if we Succeed?</vt:lpstr>
      <vt:lpstr>Inner Loop - Proof of Principle</vt:lpstr>
      <vt:lpstr>Building our new community</vt:lpstr>
      <vt:lpstr>Community Onboarding &amp; User Transition</vt:lpstr>
      <vt:lpstr>Programs, Partnerships, and Amplification</vt:lpstr>
      <vt:lpstr>Data priorities: env/land-use/health, isolate (taxa/function), modeling </vt:lpstr>
      <vt:lpstr>BLM Permit Assessment Tool</vt:lpstr>
      <vt:lpstr>Leading the conversation on architecture, governance, AI</vt:lpstr>
      <vt:lpstr>The path forward</vt:lpstr>
      <vt:lpstr>BERIL Integration and Next Phase Capabilities</vt:lpstr>
      <vt:lpstr>Key Milestones and Path Forward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Adam Arkin</cp:lastModifiedBy>
  <cp:revision>1</cp:revision>
  <dcterms:modified xsi:type="dcterms:W3CDTF">2026-04-25T23:27:48Z</dcterms:modified>
</cp:coreProperties>
</file>